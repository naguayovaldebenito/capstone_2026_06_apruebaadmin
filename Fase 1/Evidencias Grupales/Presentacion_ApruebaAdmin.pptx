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99139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658455"/>
            <a:ext cx="10747629" cy="15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sz="10608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Aprueba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7271530"/>
            <a:ext cx="1466112" cy="0"/>
          </a:xfrm>
          <a:prstGeom prst="line">
            <a:avLst/>
          </a:prstGeom>
          <a:ln cap="rnd" w="1047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10096119" y="2095119"/>
            <a:ext cx="8229600" cy="6096762"/>
          </a:xfrm>
          <a:custGeom>
            <a:avLst/>
            <a:gdLst/>
            <a:ahLst/>
            <a:cxnLst/>
            <a:rect r="r" b="b" t="t" l="l"/>
            <a:pathLst>
              <a:path h="6096762" w="8229600">
                <a:moveTo>
                  <a:pt x="0" y="0"/>
                </a:moveTo>
                <a:lnTo>
                  <a:pt x="8229600" y="0"/>
                </a:lnTo>
                <a:lnTo>
                  <a:pt x="8229600" y="6096762"/>
                </a:lnTo>
                <a:lnTo>
                  <a:pt x="0" y="609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5984" y="331988"/>
            <a:ext cx="3800370" cy="1202392"/>
          </a:xfrm>
          <a:custGeom>
            <a:avLst/>
            <a:gdLst/>
            <a:ahLst/>
            <a:cxnLst/>
            <a:rect r="r" b="b" t="t" l="l"/>
            <a:pathLst>
              <a:path h="1202392" w="3800370">
                <a:moveTo>
                  <a:pt x="0" y="0"/>
                </a:moveTo>
                <a:lnTo>
                  <a:pt x="3800370" y="0"/>
                </a:lnTo>
                <a:lnTo>
                  <a:pt x="3800370" y="1202392"/>
                </a:lnTo>
                <a:lnTo>
                  <a:pt x="0" y="1202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1000"/>
            </a:blip>
            <a:stretch>
              <a:fillRect l="0" t="-15957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5964" y="5103703"/>
            <a:ext cx="9200469" cy="129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71"/>
              </a:lnSpc>
            </a:pPr>
            <a:r>
              <a:rPr lang="en-US" b="true" sz="9081">
                <a:solidFill>
                  <a:srgbClr val="62A9C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Administracion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3710" y="7590617"/>
            <a:ext cx="4944077" cy="190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Integrantes:</a:t>
            </a:r>
          </a:p>
          <a:p>
            <a:pPr algn="l" marL="496011" indent="-248006" lvl="1">
              <a:lnSpc>
                <a:spcPts val="3009"/>
              </a:lnSpc>
              <a:buFont typeface="Arial"/>
              <a:buChar char="•"/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Catalina Lagos</a:t>
            </a:r>
          </a:p>
          <a:p>
            <a:pPr algn="l" marL="496011" indent="-248006" lvl="1">
              <a:lnSpc>
                <a:spcPts val="3009"/>
              </a:lnSpc>
              <a:buFont typeface="Arial"/>
              <a:buChar char="•"/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Nicolas Aguayo</a:t>
            </a:r>
          </a:p>
          <a:p>
            <a:pPr algn="l" marL="496011" indent="-248006" lvl="1">
              <a:lnSpc>
                <a:spcPts val="3009"/>
              </a:lnSpc>
              <a:buFont typeface="Arial"/>
              <a:buChar char="•"/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Sebastian Medina</a:t>
            </a:r>
          </a:p>
          <a:p>
            <a:pPr algn="l">
              <a:lnSpc>
                <a:spcPts val="300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1456" y="3557697"/>
            <a:ext cx="5215675" cy="3192466"/>
            <a:chOff x="0" y="0"/>
            <a:chExt cx="1373676" cy="8408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676" cy="840814"/>
            </a:xfrm>
            <a:custGeom>
              <a:avLst/>
              <a:gdLst/>
              <a:ahLst/>
              <a:cxnLst/>
              <a:rect r="r" b="b" t="t" l="l"/>
              <a:pathLst>
                <a:path h="840814" w="1373676">
                  <a:moveTo>
                    <a:pt x="59374" y="0"/>
                  </a:moveTo>
                  <a:lnTo>
                    <a:pt x="1314302" y="0"/>
                  </a:lnTo>
                  <a:cubicBezTo>
                    <a:pt x="1330049" y="0"/>
                    <a:pt x="1345151" y="6255"/>
                    <a:pt x="1356286" y="17390"/>
                  </a:cubicBezTo>
                  <a:cubicBezTo>
                    <a:pt x="1367420" y="28525"/>
                    <a:pt x="1373676" y="43627"/>
                    <a:pt x="1373676" y="59374"/>
                  </a:cubicBezTo>
                  <a:lnTo>
                    <a:pt x="1373676" y="781440"/>
                  </a:lnTo>
                  <a:cubicBezTo>
                    <a:pt x="1373676" y="797187"/>
                    <a:pt x="1367420" y="812289"/>
                    <a:pt x="1356286" y="823424"/>
                  </a:cubicBezTo>
                  <a:cubicBezTo>
                    <a:pt x="1345151" y="834558"/>
                    <a:pt x="1330049" y="840814"/>
                    <a:pt x="1314302" y="840814"/>
                  </a:cubicBezTo>
                  <a:lnTo>
                    <a:pt x="59374" y="840814"/>
                  </a:lnTo>
                  <a:cubicBezTo>
                    <a:pt x="43627" y="840814"/>
                    <a:pt x="28525" y="834558"/>
                    <a:pt x="17390" y="823424"/>
                  </a:cubicBezTo>
                  <a:cubicBezTo>
                    <a:pt x="6255" y="812289"/>
                    <a:pt x="0" y="797187"/>
                    <a:pt x="0" y="781440"/>
                  </a:cubicBezTo>
                  <a:lnTo>
                    <a:pt x="0" y="59374"/>
                  </a:lnTo>
                  <a:cubicBezTo>
                    <a:pt x="0" y="43627"/>
                    <a:pt x="6255" y="28525"/>
                    <a:pt x="17390" y="17390"/>
                  </a:cubicBezTo>
                  <a:cubicBezTo>
                    <a:pt x="28525" y="6255"/>
                    <a:pt x="43627" y="0"/>
                    <a:pt x="593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73676" cy="869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37696" y="3557697"/>
            <a:ext cx="5215675" cy="3192466"/>
            <a:chOff x="0" y="0"/>
            <a:chExt cx="1373676" cy="8408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676" cy="840814"/>
            </a:xfrm>
            <a:custGeom>
              <a:avLst/>
              <a:gdLst/>
              <a:ahLst/>
              <a:cxnLst/>
              <a:rect r="r" b="b" t="t" l="l"/>
              <a:pathLst>
                <a:path h="840814" w="1373676">
                  <a:moveTo>
                    <a:pt x="59374" y="0"/>
                  </a:moveTo>
                  <a:lnTo>
                    <a:pt x="1314302" y="0"/>
                  </a:lnTo>
                  <a:cubicBezTo>
                    <a:pt x="1330049" y="0"/>
                    <a:pt x="1345151" y="6255"/>
                    <a:pt x="1356286" y="17390"/>
                  </a:cubicBezTo>
                  <a:cubicBezTo>
                    <a:pt x="1367420" y="28525"/>
                    <a:pt x="1373676" y="43627"/>
                    <a:pt x="1373676" y="59374"/>
                  </a:cubicBezTo>
                  <a:lnTo>
                    <a:pt x="1373676" y="781440"/>
                  </a:lnTo>
                  <a:cubicBezTo>
                    <a:pt x="1373676" y="797187"/>
                    <a:pt x="1367420" y="812289"/>
                    <a:pt x="1356286" y="823424"/>
                  </a:cubicBezTo>
                  <a:cubicBezTo>
                    <a:pt x="1345151" y="834558"/>
                    <a:pt x="1330049" y="840814"/>
                    <a:pt x="1314302" y="840814"/>
                  </a:cubicBezTo>
                  <a:lnTo>
                    <a:pt x="59374" y="840814"/>
                  </a:lnTo>
                  <a:cubicBezTo>
                    <a:pt x="43627" y="840814"/>
                    <a:pt x="28525" y="834558"/>
                    <a:pt x="17390" y="823424"/>
                  </a:cubicBezTo>
                  <a:cubicBezTo>
                    <a:pt x="6255" y="812289"/>
                    <a:pt x="0" y="797187"/>
                    <a:pt x="0" y="781440"/>
                  </a:cubicBezTo>
                  <a:lnTo>
                    <a:pt x="0" y="59374"/>
                  </a:lnTo>
                  <a:cubicBezTo>
                    <a:pt x="0" y="43627"/>
                    <a:pt x="6255" y="28525"/>
                    <a:pt x="17390" y="17390"/>
                  </a:cubicBezTo>
                  <a:cubicBezTo>
                    <a:pt x="28525" y="6255"/>
                    <a:pt x="43627" y="0"/>
                    <a:pt x="593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3676" cy="869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0868" y="3536838"/>
            <a:ext cx="5215675" cy="3192466"/>
            <a:chOff x="0" y="0"/>
            <a:chExt cx="1373676" cy="8408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3676" cy="840814"/>
            </a:xfrm>
            <a:custGeom>
              <a:avLst/>
              <a:gdLst/>
              <a:ahLst/>
              <a:cxnLst/>
              <a:rect r="r" b="b" t="t" l="l"/>
              <a:pathLst>
                <a:path h="840814" w="1373676">
                  <a:moveTo>
                    <a:pt x="59374" y="0"/>
                  </a:moveTo>
                  <a:lnTo>
                    <a:pt x="1314302" y="0"/>
                  </a:lnTo>
                  <a:cubicBezTo>
                    <a:pt x="1330049" y="0"/>
                    <a:pt x="1345151" y="6255"/>
                    <a:pt x="1356286" y="17390"/>
                  </a:cubicBezTo>
                  <a:cubicBezTo>
                    <a:pt x="1367420" y="28525"/>
                    <a:pt x="1373676" y="43627"/>
                    <a:pt x="1373676" y="59374"/>
                  </a:cubicBezTo>
                  <a:lnTo>
                    <a:pt x="1373676" y="781440"/>
                  </a:lnTo>
                  <a:cubicBezTo>
                    <a:pt x="1373676" y="797187"/>
                    <a:pt x="1367420" y="812289"/>
                    <a:pt x="1356286" y="823424"/>
                  </a:cubicBezTo>
                  <a:cubicBezTo>
                    <a:pt x="1345151" y="834558"/>
                    <a:pt x="1330049" y="840814"/>
                    <a:pt x="1314302" y="840814"/>
                  </a:cubicBezTo>
                  <a:lnTo>
                    <a:pt x="59374" y="840814"/>
                  </a:lnTo>
                  <a:cubicBezTo>
                    <a:pt x="43627" y="840814"/>
                    <a:pt x="28525" y="834558"/>
                    <a:pt x="17390" y="823424"/>
                  </a:cubicBezTo>
                  <a:cubicBezTo>
                    <a:pt x="6255" y="812289"/>
                    <a:pt x="0" y="797187"/>
                    <a:pt x="0" y="781440"/>
                  </a:cubicBezTo>
                  <a:lnTo>
                    <a:pt x="0" y="59374"/>
                  </a:lnTo>
                  <a:cubicBezTo>
                    <a:pt x="0" y="43627"/>
                    <a:pt x="6255" y="28525"/>
                    <a:pt x="17390" y="17390"/>
                  </a:cubicBezTo>
                  <a:cubicBezTo>
                    <a:pt x="28525" y="6255"/>
                    <a:pt x="43627" y="0"/>
                    <a:pt x="593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73676" cy="869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42033" y="1696305"/>
            <a:ext cx="13646107" cy="86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22"/>
              </a:lnSpc>
              <a:spcBef>
                <a:spcPct val="0"/>
              </a:spcBef>
            </a:pPr>
            <a:r>
              <a:rPr lang="en-US" b="true" sz="6726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¿Que es Aprueba?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8142" y="4289160"/>
            <a:ext cx="4062303" cy="160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Es una consola web con la que el equipo de negocio y operaciones  monitorea y gestiona la plataforma educativa de preparación PAES (app y web).</a:t>
            </a:r>
          </a:p>
          <a:p>
            <a:pPr algn="just">
              <a:lnSpc>
                <a:spcPts val="214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200074" y="4478256"/>
            <a:ext cx="4062303" cy="1074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Alloxentric, empresa dueña de la plataforma, solicita el desarrollo de la consola.</a:t>
            </a:r>
          </a:p>
          <a:p>
            <a:pPr algn="just">
              <a:lnSpc>
                <a:spcPts val="214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857555" y="4555860"/>
            <a:ext cx="4062303" cy="1074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El equipo de negocio y operaciones de Aprueba, que hoy no cuenta con estas herramientas.</a:t>
            </a:r>
          </a:p>
          <a:p>
            <a:pPr algn="just">
              <a:lnSpc>
                <a:spcPts val="2147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55984" y="331988"/>
            <a:ext cx="3800370" cy="1202392"/>
          </a:xfrm>
          <a:custGeom>
            <a:avLst/>
            <a:gdLst/>
            <a:ahLst/>
            <a:cxnLst/>
            <a:rect r="r" b="b" t="t" l="l"/>
            <a:pathLst>
              <a:path h="1202392" w="3800370">
                <a:moveTo>
                  <a:pt x="0" y="0"/>
                </a:moveTo>
                <a:lnTo>
                  <a:pt x="3800370" y="0"/>
                </a:lnTo>
                <a:lnTo>
                  <a:pt x="3800370" y="1202392"/>
                </a:lnTo>
                <a:lnTo>
                  <a:pt x="0" y="120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0" t="-15957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34616" y="3875842"/>
            <a:ext cx="4056862" cy="23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0"/>
              </a:lnSpc>
              <a:spcBef>
                <a:spcPct val="0"/>
              </a:spcBef>
            </a:pPr>
            <a:r>
              <a:rPr lang="en-US" b="true" sz="1841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Aprueba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05514" y="3875842"/>
            <a:ext cx="4056862" cy="23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0"/>
              </a:lnSpc>
              <a:spcBef>
                <a:spcPct val="0"/>
              </a:spcBef>
            </a:pPr>
            <a:r>
              <a:rPr lang="en-US" b="true" sz="1841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69123" y="3875842"/>
            <a:ext cx="4056862" cy="23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0"/>
              </a:lnSpc>
              <a:spcBef>
                <a:spcPct val="0"/>
              </a:spcBef>
            </a:pPr>
            <a:r>
              <a:rPr lang="en-US" b="true" sz="1841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¿Para quien?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3098" y="2971668"/>
            <a:ext cx="4803145" cy="3220731"/>
            <a:chOff x="0" y="0"/>
            <a:chExt cx="1265026" cy="8482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026" cy="848258"/>
            </a:xfrm>
            <a:custGeom>
              <a:avLst/>
              <a:gdLst/>
              <a:ahLst/>
              <a:cxnLst/>
              <a:rect r="r" b="b" t="t" l="l"/>
              <a:pathLst>
                <a:path h="848258" w="1265026">
                  <a:moveTo>
                    <a:pt x="64474" y="0"/>
                  </a:moveTo>
                  <a:lnTo>
                    <a:pt x="1200552" y="0"/>
                  </a:lnTo>
                  <a:cubicBezTo>
                    <a:pt x="1236160" y="0"/>
                    <a:pt x="1265026" y="28866"/>
                    <a:pt x="1265026" y="64474"/>
                  </a:cubicBezTo>
                  <a:lnTo>
                    <a:pt x="1265026" y="783785"/>
                  </a:lnTo>
                  <a:cubicBezTo>
                    <a:pt x="1265026" y="819393"/>
                    <a:pt x="1236160" y="848258"/>
                    <a:pt x="1200552" y="848258"/>
                  </a:cubicBezTo>
                  <a:lnTo>
                    <a:pt x="64474" y="848258"/>
                  </a:lnTo>
                  <a:cubicBezTo>
                    <a:pt x="28866" y="848258"/>
                    <a:pt x="0" y="819393"/>
                    <a:pt x="0" y="783785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65026" cy="876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66421" y="4553458"/>
            <a:ext cx="4096499" cy="113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9"/>
              </a:lnSpc>
              <a:spcBef>
                <a:spcPct val="0"/>
              </a:spcBef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Mas de 308.000estudiantes se nscribieron en la paes en 2025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66421" y="3398875"/>
            <a:ext cx="5230101" cy="1409195"/>
          </a:xfrm>
          <a:custGeom>
            <a:avLst/>
            <a:gdLst/>
            <a:ahLst/>
            <a:cxnLst/>
            <a:rect r="r" b="b" t="t" l="l"/>
            <a:pathLst>
              <a:path h="1409195" w="5230101">
                <a:moveTo>
                  <a:pt x="0" y="0"/>
                </a:moveTo>
                <a:lnTo>
                  <a:pt x="5230102" y="0"/>
                </a:lnTo>
                <a:lnTo>
                  <a:pt x="5230102" y="1409196"/>
                </a:lnTo>
                <a:lnTo>
                  <a:pt x="0" y="1409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096523" y="2971668"/>
            <a:ext cx="4803145" cy="3220731"/>
            <a:chOff x="0" y="0"/>
            <a:chExt cx="1265026" cy="848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5026" cy="848258"/>
            </a:xfrm>
            <a:custGeom>
              <a:avLst/>
              <a:gdLst/>
              <a:ahLst/>
              <a:cxnLst/>
              <a:rect r="r" b="b" t="t" l="l"/>
              <a:pathLst>
                <a:path h="848258" w="1265026">
                  <a:moveTo>
                    <a:pt x="64474" y="0"/>
                  </a:moveTo>
                  <a:lnTo>
                    <a:pt x="1200552" y="0"/>
                  </a:lnTo>
                  <a:cubicBezTo>
                    <a:pt x="1236160" y="0"/>
                    <a:pt x="1265026" y="28866"/>
                    <a:pt x="1265026" y="64474"/>
                  </a:cubicBezTo>
                  <a:lnTo>
                    <a:pt x="1265026" y="783785"/>
                  </a:lnTo>
                  <a:cubicBezTo>
                    <a:pt x="1265026" y="819393"/>
                    <a:pt x="1236160" y="848258"/>
                    <a:pt x="1200552" y="848258"/>
                  </a:cubicBezTo>
                  <a:lnTo>
                    <a:pt x="64474" y="848258"/>
                  </a:lnTo>
                  <a:cubicBezTo>
                    <a:pt x="28866" y="848258"/>
                    <a:pt x="0" y="819393"/>
                    <a:pt x="0" y="783785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65026" cy="876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231736" y="3184569"/>
            <a:ext cx="439965" cy="1204977"/>
          </a:xfrm>
          <a:custGeom>
            <a:avLst/>
            <a:gdLst/>
            <a:ahLst/>
            <a:cxnLst/>
            <a:rect r="r" b="b" t="t" l="l"/>
            <a:pathLst>
              <a:path h="1204977" w="439965">
                <a:moveTo>
                  <a:pt x="0" y="0"/>
                </a:moveTo>
                <a:lnTo>
                  <a:pt x="439965" y="0"/>
                </a:lnTo>
                <a:lnTo>
                  <a:pt x="439965" y="1204978"/>
                </a:lnTo>
                <a:lnTo>
                  <a:pt x="0" y="1204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9448" t="0" r="-811170" b="-34839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456155" y="2971668"/>
            <a:ext cx="4803145" cy="3220731"/>
            <a:chOff x="0" y="0"/>
            <a:chExt cx="1265026" cy="8482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5026" cy="848258"/>
            </a:xfrm>
            <a:custGeom>
              <a:avLst/>
              <a:gdLst/>
              <a:ahLst/>
              <a:cxnLst/>
              <a:rect r="r" b="b" t="t" l="l"/>
              <a:pathLst>
                <a:path h="848258" w="1265026">
                  <a:moveTo>
                    <a:pt x="64474" y="0"/>
                  </a:moveTo>
                  <a:lnTo>
                    <a:pt x="1200552" y="0"/>
                  </a:lnTo>
                  <a:cubicBezTo>
                    <a:pt x="1236160" y="0"/>
                    <a:pt x="1265026" y="28866"/>
                    <a:pt x="1265026" y="64474"/>
                  </a:cubicBezTo>
                  <a:lnTo>
                    <a:pt x="1265026" y="783785"/>
                  </a:lnTo>
                  <a:cubicBezTo>
                    <a:pt x="1265026" y="819393"/>
                    <a:pt x="1236160" y="848258"/>
                    <a:pt x="1200552" y="848258"/>
                  </a:cubicBezTo>
                  <a:lnTo>
                    <a:pt x="64474" y="848258"/>
                  </a:lnTo>
                  <a:cubicBezTo>
                    <a:pt x="28866" y="848258"/>
                    <a:pt x="0" y="819393"/>
                    <a:pt x="0" y="783785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65026" cy="876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161712" y="3318275"/>
            <a:ext cx="1392031" cy="1454258"/>
          </a:xfrm>
          <a:custGeom>
            <a:avLst/>
            <a:gdLst/>
            <a:ahLst/>
            <a:cxnLst/>
            <a:rect r="r" b="b" t="t" l="l"/>
            <a:pathLst>
              <a:path h="1454258" w="1392031">
                <a:moveTo>
                  <a:pt x="0" y="0"/>
                </a:moveTo>
                <a:lnTo>
                  <a:pt x="1392031" y="0"/>
                </a:lnTo>
                <a:lnTo>
                  <a:pt x="1392031" y="1454258"/>
                </a:lnTo>
                <a:lnTo>
                  <a:pt x="0" y="1454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514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83321" y="1162050"/>
            <a:ext cx="13736793" cy="14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34"/>
              </a:lnSpc>
              <a:spcBef>
                <a:spcPct val="0"/>
              </a:spcBef>
            </a:pPr>
            <a:r>
              <a:rPr lang="en-US" b="true" sz="5781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pr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blema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enfre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Ap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5781" strike="noStrike" u="non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ueba </a:t>
            </a:r>
          </a:p>
          <a:p>
            <a:pPr algn="ctr" marL="0" indent="0" lvl="0">
              <a:lnSpc>
                <a:spcPts val="543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449846" y="4553458"/>
            <a:ext cx="4096499" cy="152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9"/>
              </a:lnSpc>
              <a:spcBef>
                <a:spcPct val="0"/>
              </a:spcBef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herr</a:t>
            </a: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amientas actuales para medir conversión y facturación</a:t>
            </a:r>
          </a:p>
          <a:p>
            <a:pPr algn="ctr">
              <a:lnSpc>
                <a:spcPts val="300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680718" y="4559472"/>
            <a:ext cx="4096499" cy="113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9"/>
              </a:lnSpc>
              <a:spcBef>
                <a:spcPct val="0"/>
              </a:spcBef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ár</a:t>
            </a: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eas de negocio operando sin visibilidad centralizada</a:t>
            </a:r>
          </a:p>
          <a:p>
            <a:pPr algn="ctr">
              <a:lnSpc>
                <a:spcPts val="300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676006" y="6535299"/>
            <a:ext cx="15101210" cy="113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9"/>
              </a:lnSpc>
              <a:spcBef>
                <a:spcPct val="0"/>
              </a:spcBef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Apru</a:t>
            </a: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eba es una plataforma freemium (app y web) que entrega preguntas diarias para la preparación de la PAES, con planes de suscripción de bajo costo.</a:t>
            </a:r>
          </a:p>
          <a:p>
            <a:pPr algn="just">
              <a:lnSpc>
                <a:spcPts val="300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76006" y="7655729"/>
            <a:ext cx="14935987" cy="152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9"/>
              </a:lnSpc>
              <a:spcBef>
                <a:spcPct val="0"/>
              </a:spcBef>
            </a:pP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Hoy la empr</a:t>
            </a:r>
            <a:r>
              <a:rPr lang="en-US" sz="229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esa no cuenta con forma de medir conversión de usuarios de pago, facturación ni estado de los servicios; tampoco existe gestión centralizada de auspiciadores ni de soporte sin depender del equipo de desarrollo para cada cambio.</a:t>
            </a:r>
          </a:p>
          <a:p>
            <a:pPr algn="just">
              <a:lnSpc>
                <a:spcPts val="30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4862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10098432" y="2092806"/>
            <a:ext cx="8224974" cy="6096762"/>
          </a:xfrm>
          <a:custGeom>
            <a:avLst/>
            <a:gdLst/>
            <a:ahLst/>
            <a:cxnLst/>
            <a:rect r="r" b="b" t="t" l="l"/>
            <a:pathLst>
              <a:path h="6096762" w="8224974">
                <a:moveTo>
                  <a:pt x="8224974" y="0"/>
                </a:moveTo>
                <a:lnTo>
                  <a:pt x="0" y="0"/>
                </a:lnTo>
                <a:lnTo>
                  <a:pt x="0" y="6096762"/>
                </a:lnTo>
                <a:lnTo>
                  <a:pt x="8224974" y="6096762"/>
                </a:lnTo>
                <a:lnTo>
                  <a:pt x="82249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4307" y="1190405"/>
            <a:ext cx="7622299" cy="59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9"/>
              </a:lnSpc>
              <a:spcBef>
                <a:spcPct val="0"/>
              </a:spcBef>
            </a:pPr>
            <a:r>
              <a:rPr lang="en-US" b="true" sz="4648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Propuesta de solucion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307" y="5103087"/>
            <a:ext cx="8614275" cy="199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Resumen — indicadores y estado de los servicios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Comercial — embudo de conversión y recaudación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Sponsors — gestión de auspiciadores y beneficios.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Operativa — monitoreo y reinicio de servicios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 Usuarios y soporte — cuentas, tickets y recorrecciones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Planes y productos — banco de preguntas y planes (Stripe)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4307" y="2800113"/>
            <a:ext cx="9257766" cy="1074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Este proyecto resuelve directamente ese vacío:</a:t>
            </a:r>
          </a:p>
          <a:p>
            <a:pPr algn="l">
              <a:lnSpc>
                <a:spcPts val="2147"/>
              </a:lnSpc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combina visualización de datos de negocio, gestión de contenido, control de acceso por roles y automatización de procesos operativos en ocho módulos.</a:t>
            </a:r>
          </a:p>
          <a:p>
            <a:pPr algn="l">
              <a:lnSpc>
                <a:spcPts val="214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74307" y="4445779"/>
            <a:ext cx="5820689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0"/>
              </a:lnSpc>
              <a:spcBef>
                <a:spcPct val="0"/>
              </a:spcBef>
            </a:pPr>
            <a:r>
              <a:rPr lang="en-US" b="true" sz="3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Modulos Principales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307" y="2116486"/>
            <a:ext cx="7750628" cy="67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2696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Consola de administración integral</a:t>
            </a:r>
          </a:p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74307" y="7594359"/>
            <a:ext cx="5820689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0"/>
              </a:lnSpc>
              <a:spcBef>
                <a:spcPct val="0"/>
              </a:spcBef>
            </a:pPr>
            <a:r>
              <a:rPr lang="en-US" b="true" sz="3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Modulos de Ampliacion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0372" y="8259204"/>
            <a:ext cx="9321702" cy="65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Generación docente (ampliación) — IA + validación de dos revisores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Pagos y suscripciones (ampliación) — cobros a sponsors y transacciones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00643"/>
            <a:ext cx="17773650" cy="9913979"/>
            <a:chOff x="0" y="0"/>
            <a:chExt cx="6386393" cy="3562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62272"/>
            </a:xfrm>
            <a:custGeom>
              <a:avLst/>
              <a:gdLst/>
              <a:ahLst/>
              <a:cxnLst/>
              <a:rect r="r" b="b" t="t" l="l"/>
              <a:pathLst>
                <a:path h="3562272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534830"/>
                  </a:lnTo>
                  <a:cubicBezTo>
                    <a:pt x="6386393" y="3542108"/>
                    <a:pt x="6383502" y="3549088"/>
                    <a:pt x="6378356" y="3554234"/>
                  </a:cubicBezTo>
                  <a:cubicBezTo>
                    <a:pt x="6373209" y="3559380"/>
                    <a:pt x="6366229" y="3562272"/>
                    <a:pt x="6358951" y="3562272"/>
                  </a:cubicBezTo>
                  <a:lnTo>
                    <a:pt x="27442" y="3562272"/>
                  </a:lnTo>
                  <a:cubicBezTo>
                    <a:pt x="20164" y="3562272"/>
                    <a:pt x="13184" y="3559380"/>
                    <a:pt x="8038" y="3554234"/>
                  </a:cubicBezTo>
                  <a:cubicBezTo>
                    <a:pt x="2891" y="3549088"/>
                    <a:pt x="0" y="3542108"/>
                    <a:pt x="0" y="3534830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62272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32136" y="4693237"/>
            <a:ext cx="6235006" cy="2130131"/>
            <a:chOff x="0" y="0"/>
            <a:chExt cx="2846655" cy="9725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655" cy="972533"/>
            </a:xfrm>
            <a:custGeom>
              <a:avLst/>
              <a:gdLst/>
              <a:ahLst/>
              <a:cxnLst/>
              <a:rect r="r" b="b" t="t" l="l"/>
              <a:pathLst>
                <a:path h="972533" w="2846655">
                  <a:moveTo>
                    <a:pt x="49667" y="0"/>
                  </a:moveTo>
                  <a:lnTo>
                    <a:pt x="2796987" y="0"/>
                  </a:lnTo>
                  <a:cubicBezTo>
                    <a:pt x="2824418" y="0"/>
                    <a:pt x="2846655" y="22237"/>
                    <a:pt x="2846655" y="49667"/>
                  </a:cubicBezTo>
                  <a:lnTo>
                    <a:pt x="2846655" y="922866"/>
                  </a:lnTo>
                  <a:cubicBezTo>
                    <a:pt x="2846655" y="936038"/>
                    <a:pt x="2841422" y="948671"/>
                    <a:pt x="2832108" y="957986"/>
                  </a:cubicBezTo>
                  <a:cubicBezTo>
                    <a:pt x="2822793" y="967300"/>
                    <a:pt x="2810160" y="972533"/>
                    <a:pt x="2796987" y="972533"/>
                  </a:cubicBezTo>
                  <a:lnTo>
                    <a:pt x="49667" y="972533"/>
                  </a:lnTo>
                  <a:cubicBezTo>
                    <a:pt x="22237" y="972533"/>
                    <a:pt x="0" y="950296"/>
                    <a:pt x="0" y="922866"/>
                  </a:cubicBezTo>
                  <a:lnTo>
                    <a:pt x="0" y="49667"/>
                  </a:lnTo>
                  <a:cubicBezTo>
                    <a:pt x="0" y="22237"/>
                    <a:pt x="22237" y="0"/>
                    <a:pt x="4966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846655" cy="100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20858" y="4693237"/>
            <a:ext cx="6235006" cy="2130131"/>
            <a:chOff x="0" y="0"/>
            <a:chExt cx="2846655" cy="972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6655" cy="972533"/>
            </a:xfrm>
            <a:custGeom>
              <a:avLst/>
              <a:gdLst/>
              <a:ahLst/>
              <a:cxnLst/>
              <a:rect r="r" b="b" t="t" l="l"/>
              <a:pathLst>
                <a:path h="972533" w="2846655">
                  <a:moveTo>
                    <a:pt x="49667" y="0"/>
                  </a:moveTo>
                  <a:lnTo>
                    <a:pt x="2796987" y="0"/>
                  </a:lnTo>
                  <a:cubicBezTo>
                    <a:pt x="2824418" y="0"/>
                    <a:pt x="2846655" y="22237"/>
                    <a:pt x="2846655" y="49667"/>
                  </a:cubicBezTo>
                  <a:lnTo>
                    <a:pt x="2846655" y="922866"/>
                  </a:lnTo>
                  <a:cubicBezTo>
                    <a:pt x="2846655" y="936038"/>
                    <a:pt x="2841422" y="948671"/>
                    <a:pt x="2832108" y="957986"/>
                  </a:cubicBezTo>
                  <a:cubicBezTo>
                    <a:pt x="2822793" y="967300"/>
                    <a:pt x="2810160" y="972533"/>
                    <a:pt x="2796987" y="972533"/>
                  </a:cubicBezTo>
                  <a:lnTo>
                    <a:pt x="49667" y="972533"/>
                  </a:lnTo>
                  <a:cubicBezTo>
                    <a:pt x="22237" y="972533"/>
                    <a:pt x="0" y="950296"/>
                    <a:pt x="0" y="922866"/>
                  </a:cubicBezTo>
                  <a:lnTo>
                    <a:pt x="0" y="49667"/>
                  </a:lnTo>
                  <a:cubicBezTo>
                    <a:pt x="0" y="22237"/>
                    <a:pt x="22237" y="0"/>
                    <a:pt x="4966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846655" cy="100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32136" y="7128169"/>
            <a:ext cx="6235006" cy="2130131"/>
            <a:chOff x="0" y="0"/>
            <a:chExt cx="2846655" cy="9725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655" cy="972533"/>
            </a:xfrm>
            <a:custGeom>
              <a:avLst/>
              <a:gdLst/>
              <a:ahLst/>
              <a:cxnLst/>
              <a:rect r="r" b="b" t="t" l="l"/>
              <a:pathLst>
                <a:path h="972533" w="2846655">
                  <a:moveTo>
                    <a:pt x="49667" y="0"/>
                  </a:moveTo>
                  <a:lnTo>
                    <a:pt x="2796987" y="0"/>
                  </a:lnTo>
                  <a:cubicBezTo>
                    <a:pt x="2824418" y="0"/>
                    <a:pt x="2846655" y="22237"/>
                    <a:pt x="2846655" y="49667"/>
                  </a:cubicBezTo>
                  <a:lnTo>
                    <a:pt x="2846655" y="922866"/>
                  </a:lnTo>
                  <a:cubicBezTo>
                    <a:pt x="2846655" y="936038"/>
                    <a:pt x="2841422" y="948671"/>
                    <a:pt x="2832108" y="957986"/>
                  </a:cubicBezTo>
                  <a:cubicBezTo>
                    <a:pt x="2822793" y="967300"/>
                    <a:pt x="2810160" y="972533"/>
                    <a:pt x="2796987" y="972533"/>
                  </a:cubicBezTo>
                  <a:lnTo>
                    <a:pt x="49667" y="972533"/>
                  </a:lnTo>
                  <a:cubicBezTo>
                    <a:pt x="22237" y="972533"/>
                    <a:pt x="0" y="950296"/>
                    <a:pt x="0" y="922866"/>
                  </a:cubicBezTo>
                  <a:lnTo>
                    <a:pt x="0" y="49667"/>
                  </a:lnTo>
                  <a:cubicBezTo>
                    <a:pt x="0" y="22237"/>
                    <a:pt x="22237" y="0"/>
                    <a:pt x="4966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846655" cy="100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01673" y="1766726"/>
            <a:ext cx="3514957" cy="39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7"/>
              </a:lnSpc>
              <a:spcBef>
                <a:spcPct val="0"/>
              </a:spcBef>
            </a:pPr>
            <a:r>
              <a:rPr lang="en-US" b="true" sz="3072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 general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9799" y="2509580"/>
            <a:ext cx="13988402" cy="81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0"/>
              </a:lnSpc>
            </a:pPr>
            <a:r>
              <a:rPr lang="en-US" sz="1876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Desarrollar e implementar una consola de administración para la plataforma Aprueba, la cual permita centralizar la gestión operativa, comercial y monitorear indicadores clave del negocio.</a:t>
            </a:r>
          </a:p>
          <a:p>
            <a:pPr algn="just">
              <a:lnSpc>
                <a:spcPts val="21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669239" y="1035355"/>
            <a:ext cx="10392032" cy="65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14"/>
              </a:lnSpc>
              <a:spcBef>
                <a:spcPct val="0"/>
              </a:spcBef>
            </a:pPr>
            <a:r>
              <a:rPr lang="en-US" b="true" sz="5122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68111" y="3759272"/>
            <a:ext cx="3802257" cy="39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7"/>
              </a:lnSpc>
              <a:spcBef>
                <a:spcPct val="0"/>
              </a:spcBef>
            </a:pPr>
            <a:r>
              <a:rPr lang="en-US" b="true" sz="3072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 especifico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42480" y="5492075"/>
            <a:ext cx="5432526" cy="103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7"/>
              </a:lnSpc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1820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90% </a:t>
            </a: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de los ajustes de precios, límites diarios y catálogo se realizan sin desarrollo, desde el 2º mes</a:t>
            </a:r>
          </a:p>
          <a:p>
            <a:pPr algn="just">
              <a:lnSpc>
                <a:spcPts val="205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920209" y="5571670"/>
            <a:ext cx="5836303" cy="80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0"/>
              </a:lnSpc>
            </a:pPr>
            <a:r>
              <a:rPr lang="en-US" sz="1876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1876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15% </a:t>
            </a:r>
            <a:r>
              <a:rPr lang="en-US" sz="1876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de aumento en usuarios freemium que pasan a pago, en los primeros 3 meses.</a:t>
            </a:r>
          </a:p>
          <a:p>
            <a:pPr algn="just">
              <a:lnSpc>
                <a:spcPts val="21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655770" y="7918744"/>
            <a:ext cx="5643518" cy="80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0"/>
              </a:lnSpc>
            </a:pPr>
            <a:r>
              <a:rPr lang="en-US" sz="1876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</a:t>
            </a:r>
            <a:r>
              <a:rPr lang="en-US" sz="1876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 de incremento en la app del alumno en los primeros 6 meses de uso.</a:t>
            </a:r>
          </a:p>
          <a:p>
            <a:pPr algn="just">
              <a:lnSpc>
                <a:spcPts val="21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155630" y="4988512"/>
            <a:ext cx="4588018" cy="57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2372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Autonomía comercial</a:t>
            </a:r>
          </a:p>
          <a:p>
            <a:pPr algn="ctr" marL="0" indent="0" lvl="0">
              <a:lnSpc>
                <a:spcPts val="222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720858" y="7128169"/>
            <a:ext cx="6235006" cy="2130131"/>
            <a:chOff x="0" y="0"/>
            <a:chExt cx="2846655" cy="9725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46655" cy="972533"/>
            </a:xfrm>
            <a:custGeom>
              <a:avLst/>
              <a:gdLst/>
              <a:ahLst/>
              <a:cxnLst/>
              <a:rect r="r" b="b" t="t" l="l"/>
              <a:pathLst>
                <a:path h="972533" w="2846655">
                  <a:moveTo>
                    <a:pt x="49667" y="0"/>
                  </a:moveTo>
                  <a:lnTo>
                    <a:pt x="2796987" y="0"/>
                  </a:lnTo>
                  <a:cubicBezTo>
                    <a:pt x="2824418" y="0"/>
                    <a:pt x="2846655" y="22237"/>
                    <a:pt x="2846655" y="49667"/>
                  </a:cubicBezTo>
                  <a:lnTo>
                    <a:pt x="2846655" y="922866"/>
                  </a:lnTo>
                  <a:cubicBezTo>
                    <a:pt x="2846655" y="936038"/>
                    <a:pt x="2841422" y="948671"/>
                    <a:pt x="2832108" y="957986"/>
                  </a:cubicBezTo>
                  <a:cubicBezTo>
                    <a:pt x="2822793" y="967300"/>
                    <a:pt x="2810160" y="972533"/>
                    <a:pt x="2796987" y="972533"/>
                  </a:cubicBezTo>
                  <a:lnTo>
                    <a:pt x="49667" y="972533"/>
                  </a:lnTo>
                  <a:cubicBezTo>
                    <a:pt x="22237" y="972533"/>
                    <a:pt x="0" y="950296"/>
                    <a:pt x="0" y="922866"/>
                  </a:cubicBezTo>
                  <a:lnTo>
                    <a:pt x="0" y="49667"/>
                  </a:lnTo>
                  <a:cubicBezTo>
                    <a:pt x="0" y="22237"/>
                    <a:pt x="22237" y="0"/>
                    <a:pt x="4966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846655" cy="100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20209" y="7918744"/>
            <a:ext cx="5836303" cy="81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0"/>
              </a:lnSpc>
            </a:pPr>
            <a:r>
              <a:rPr lang="en-US" sz="1876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 30%  de reducción en el tiempo de resolución de tickets y recorrecciones, en 2 meses.</a:t>
            </a:r>
          </a:p>
          <a:p>
            <a:pPr algn="just">
              <a:lnSpc>
                <a:spcPts val="212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720858" y="4988512"/>
            <a:ext cx="6179226" cy="57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2372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Conversión a planes de pago</a:t>
            </a:r>
          </a:p>
          <a:p>
            <a:pPr algn="ctr" marL="0" indent="0" lvl="0">
              <a:lnSpc>
                <a:spcPts val="222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387917" y="7423444"/>
            <a:ext cx="6179226" cy="57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2372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Usuarios activos mensuales</a:t>
            </a:r>
          </a:p>
          <a:p>
            <a:pPr algn="ctr" marL="0" indent="0" lvl="0">
              <a:lnSpc>
                <a:spcPts val="222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720858" y="7423444"/>
            <a:ext cx="6179226" cy="57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2372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Resolución de soporte</a:t>
            </a:r>
          </a:p>
          <a:p>
            <a:pPr algn="ctr" marL="0" indent="0" lvl="0">
              <a:lnSpc>
                <a:spcPts val="222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51613" y="1181100"/>
            <a:ext cx="6120944" cy="68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7"/>
              </a:lnSpc>
              <a:spcBef>
                <a:spcPct val="0"/>
              </a:spcBef>
            </a:pPr>
            <a:r>
              <a:rPr lang="en-US" b="true" sz="5529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Alcances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545033"/>
            <a:ext cx="7584499" cy="5017316"/>
            <a:chOff x="0" y="0"/>
            <a:chExt cx="3462779" cy="22907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62779" cy="2290706"/>
            </a:xfrm>
            <a:custGeom>
              <a:avLst/>
              <a:gdLst/>
              <a:ahLst/>
              <a:cxnLst/>
              <a:rect r="r" b="b" t="t" l="l"/>
              <a:pathLst>
                <a:path h="2290706" w="3462779">
                  <a:moveTo>
                    <a:pt x="40830" y="0"/>
                  </a:moveTo>
                  <a:lnTo>
                    <a:pt x="3421949" y="0"/>
                  </a:lnTo>
                  <a:cubicBezTo>
                    <a:pt x="3432778" y="0"/>
                    <a:pt x="3443163" y="4302"/>
                    <a:pt x="3450820" y="11959"/>
                  </a:cubicBezTo>
                  <a:cubicBezTo>
                    <a:pt x="3458478" y="19616"/>
                    <a:pt x="3462779" y="30001"/>
                    <a:pt x="3462779" y="40830"/>
                  </a:cubicBezTo>
                  <a:lnTo>
                    <a:pt x="3462779" y="2249876"/>
                  </a:lnTo>
                  <a:cubicBezTo>
                    <a:pt x="3462779" y="2260705"/>
                    <a:pt x="3458478" y="2271090"/>
                    <a:pt x="3450820" y="2278747"/>
                  </a:cubicBezTo>
                  <a:cubicBezTo>
                    <a:pt x="3443163" y="2286405"/>
                    <a:pt x="3432778" y="2290706"/>
                    <a:pt x="3421949" y="2290706"/>
                  </a:cubicBezTo>
                  <a:lnTo>
                    <a:pt x="40830" y="2290706"/>
                  </a:lnTo>
                  <a:cubicBezTo>
                    <a:pt x="30001" y="2290706"/>
                    <a:pt x="19616" y="2286405"/>
                    <a:pt x="11959" y="2278747"/>
                  </a:cubicBezTo>
                  <a:cubicBezTo>
                    <a:pt x="4302" y="2271090"/>
                    <a:pt x="0" y="2260705"/>
                    <a:pt x="0" y="2249876"/>
                  </a:cubicBezTo>
                  <a:lnTo>
                    <a:pt x="0" y="40830"/>
                  </a:lnTo>
                  <a:cubicBezTo>
                    <a:pt x="0" y="30001"/>
                    <a:pt x="4302" y="19616"/>
                    <a:pt x="11959" y="11959"/>
                  </a:cubicBezTo>
                  <a:cubicBezTo>
                    <a:pt x="19616" y="4302"/>
                    <a:pt x="30001" y="0"/>
                    <a:pt x="4083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462779" cy="231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03067" y="2545033"/>
            <a:ext cx="7556233" cy="5017316"/>
            <a:chOff x="0" y="0"/>
            <a:chExt cx="3449874" cy="22907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9874" cy="2290706"/>
            </a:xfrm>
            <a:custGeom>
              <a:avLst/>
              <a:gdLst/>
              <a:ahLst/>
              <a:cxnLst/>
              <a:rect r="r" b="b" t="t" l="l"/>
              <a:pathLst>
                <a:path h="2290706" w="3449874">
                  <a:moveTo>
                    <a:pt x="40983" y="0"/>
                  </a:moveTo>
                  <a:lnTo>
                    <a:pt x="3408891" y="0"/>
                  </a:lnTo>
                  <a:cubicBezTo>
                    <a:pt x="3431525" y="0"/>
                    <a:pt x="3449874" y="18349"/>
                    <a:pt x="3449874" y="40983"/>
                  </a:cubicBezTo>
                  <a:lnTo>
                    <a:pt x="3449874" y="2249723"/>
                  </a:lnTo>
                  <a:cubicBezTo>
                    <a:pt x="3449874" y="2272358"/>
                    <a:pt x="3431525" y="2290706"/>
                    <a:pt x="3408891" y="2290706"/>
                  </a:cubicBezTo>
                  <a:lnTo>
                    <a:pt x="40983" y="2290706"/>
                  </a:lnTo>
                  <a:cubicBezTo>
                    <a:pt x="18349" y="2290706"/>
                    <a:pt x="0" y="2272358"/>
                    <a:pt x="0" y="2249723"/>
                  </a:cubicBezTo>
                  <a:lnTo>
                    <a:pt x="0" y="40983"/>
                  </a:lnTo>
                  <a:cubicBezTo>
                    <a:pt x="0" y="18349"/>
                    <a:pt x="18349" y="0"/>
                    <a:pt x="4098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449874" cy="2319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90627" y="2872643"/>
            <a:ext cx="5159017" cy="29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9"/>
              </a:lnSpc>
              <a:spcBef>
                <a:spcPct val="0"/>
              </a:spcBef>
            </a:pPr>
            <a:r>
              <a:rPr lang="en-US" b="true" sz="2372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Dentro del alcance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01675" y="2872643"/>
            <a:ext cx="5159017" cy="29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9"/>
              </a:lnSpc>
              <a:spcBef>
                <a:spcPct val="0"/>
              </a:spcBef>
            </a:pPr>
            <a:r>
              <a:rPr lang="en-US" b="true" sz="2372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Fuera de alcance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1851" y="3711327"/>
            <a:ext cx="6938197" cy="336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Los seis módulos principales: Resumen, Comercial, Sponsors, Operativa, Usuarios y soporte, Planes y productos.</a:t>
            </a:r>
          </a:p>
          <a:p>
            <a:pPr algn="l">
              <a:lnSpc>
                <a:spcPts val="2057"/>
              </a:lnSpc>
            </a:pPr>
          </a:p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Módulo de generación y validación docente de preguntas (con IA y doble revisión).</a:t>
            </a:r>
          </a:p>
          <a:p>
            <a:pPr algn="l">
              <a:lnSpc>
                <a:spcPts val="2057"/>
              </a:lnSpc>
            </a:pPr>
          </a:p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Módulo de administración de pagos y suscripciones (Stripe en modo prueba).</a:t>
            </a:r>
          </a:p>
          <a:p>
            <a:pPr algn="l">
              <a:lnSpc>
                <a:spcPts val="2057"/>
              </a:lnSpc>
            </a:pPr>
          </a:p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Control de acceso diferenciado por rol y bitácora de auditoría de acciones sensibles.</a:t>
            </a:r>
          </a:p>
          <a:p>
            <a:pPr algn="just">
              <a:lnSpc>
                <a:spcPts val="205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012085" y="3711327"/>
            <a:ext cx="6938197" cy="310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La aplicación del alumno: la consola depende de los datos que ésta emite, sin construirla.</a:t>
            </a:r>
          </a:p>
          <a:p>
            <a:pPr algn="l">
              <a:lnSpc>
                <a:spcPts val="2057"/>
              </a:lnSpc>
            </a:pPr>
          </a:p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La sección de Tutores: mencionada en el contexto general del negocio, pero ausente del plan de trabajo entregado por el cliente</a:t>
            </a:r>
          </a:p>
          <a:p>
            <a:pPr algn="l">
              <a:lnSpc>
                <a:spcPts val="2057"/>
              </a:lnSpc>
            </a:pPr>
          </a:p>
          <a:p>
            <a:pPr algn="l" marL="393019" indent="-196509" lvl="1">
              <a:lnSpc>
                <a:spcPts val="2057"/>
              </a:lnSpc>
              <a:buFont typeface="Arial"/>
              <a:buChar char="•"/>
            </a:pPr>
            <a:r>
              <a:rPr lang="en-US" sz="182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Procesamiento de pagos reales: El módulo de pagos opera únicamente en modo de prueba de Stripe.</a:t>
            </a:r>
          </a:p>
          <a:p>
            <a:pPr algn="l">
              <a:lnSpc>
                <a:spcPts val="2057"/>
              </a:lnSpc>
            </a:pPr>
          </a:p>
          <a:p>
            <a:pPr algn="l">
              <a:lnSpc>
                <a:spcPts val="2057"/>
              </a:lnSpc>
            </a:pPr>
          </a:p>
          <a:p>
            <a:pPr algn="l">
              <a:lnSpc>
                <a:spcPts val="205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333799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425682" y="1752205"/>
            <a:ext cx="9070831" cy="57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2"/>
              </a:lnSpc>
              <a:spcBef>
                <a:spcPct val="0"/>
              </a:spcBef>
            </a:pPr>
            <a:r>
              <a:rPr lang="en-US" b="true" sz="447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Metodologia Scrum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1299" y="2708388"/>
            <a:ext cx="15141203" cy="4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6"/>
              </a:lnSpc>
            </a:pPr>
            <a:r>
              <a:rPr lang="en-US" sz="1651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Se adoptó Scrum porque el proyecto tiene dos características que encajan bien con un enfoque ágil: por un lado, el cliente (Alloxentric) ya entregó un plan de desarrollo con bloques funcionales y criterios de aceptación definidos, lo que facilita dividir el trabajo en incrementos claros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42219"/>
            <a:ext cx="4030945" cy="37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9"/>
              </a:lnSpc>
              <a:spcBef>
                <a:spcPct val="0"/>
              </a:spcBef>
            </a:pPr>
            <a:r>
              <a:rPr lang="en-US" b="true" sz="301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se organiza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6608" y="3927379"/>
            <a:ext cx="14008728" cy="91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3"/>
              </a:lnSpc>
            </a:pPr>
            <a:r>
              <a:rPr lang="en-US" sz="1657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El desarrollo se divide en sprints de 1 a 2 semanas. Al inicio de cada sprint el equipo selecciona un conjunto acotado de tareas del backlog, las desarrolla, y al cierre del sprint presenta un incremento funcional al cliente para su validación. Esto genera un ciclo de retroalimentación corto: si algo no cumple lo esperado, se corrige en el sprint siguiente en lugar de arrastrar el error hasta el final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235" y="5296324"/>
            <a:ext cx="4030945" cy="37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9"/>
              </a:lnSpc>
              <a:spcBef>
                <a:spcPct val="0"/>
              </a:spcBef>
            </a:pPr>
            <a:r>
              <a:rPr lang="en-US" b="true" sz="301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Bloques de trabajo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4235" y="5969399"/>
            <a:ext cx="3735682" cy="2454183"/>
            <a:chOff x="0" y="0"/>
            <a:chExt cx="1705563" cy="11204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5563" cy="1120482"/>
            </a:xfrm>
            <a:custGeom>
              <a:avLst/>
              <a:gdLst/>
              <a:ahLst/>
              <a:cxnLst/>
              <a:rect r="r" b="b" t="t" l="l"/>
              <a:pathLst>
                <a:path h="1120482" w="1705563">
                  <a:moveTo>
                    <a:pt x="82897" y="0"/>
                  </a:moveTo>
                  <a:lnTo>
                    <a:pt x="1622666" y="0"/>
                  </a:lnTo>
                  <a:cubicBezTo>
                    <a:pt x="1668449" y="0"/>
                    <a:pt x="1705563" y="37114"/>
                    <a:pt x="1705563" y="82897"/>
                  </a:cubicBezTo>
                  <a:lnTo>
                    <a:pt x="1705563" y="1037585"/>
                  </a:lnTo>
                  <a:cubicBezTo>
                    <a:pt x="1705563" y="1059571"/>
                    <a:pt x="1696829" y="1080656"/>
                    <a:pt x="1681283" y="1096202"/>
                  </a:cubicBezTo>
                  <a:cubicBezTo>
                    <a:pt x="1665737" y="1111748"/>
                    <a:pt x="1644652" y="1120482"/>
                    <a:pt x="1622666" y="1120482"/>
                  </a:cubicBezTo>
                  <a:lnTo>
                    <a:pt x="82897" y="1120482"/>
                  </a:lnTo>
                  <a:cubicBezTo>
                    <a:pt x="60911" y="1120482"/>
                    <a:pt x="39826" y="1111748"/>
                    <a:pt x="24280" y="1096202"/>
                  </a:cubicBezTo>
                  <a:cubicBezTo>
                    <a:pt x="8734" y="1080656"/>
                    <a:pt x="0" y="1059571"/>
                    <a:pt x="0" y="1037585"/>
                  </a:cubicBezTo>
                  <a:lnTo>
                    <a:pt x="0" y="82897"/>
                  </a:lnTo>
                  <a:cubicBezTo>
                    <a:pt x="0" y="60911"/>
                    <a:pt x="8734" y="39826"/>
                    <a:pt x="24280" y="24280"/>
                  </a:cubicBezTo>
                  <a:cubicBezTo>
                    <a:pt x="39826" y="8734"/>
                    <a:pt x="60911" y="0"/>
                    <a:pt x="8289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05563" cy="114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5182" y="5969399"/>
            <a:ext cx="3810942" cy="2454183"/>
            <a:chOff x="0" y="0"/>
            <a:chExt cx="1739924" cy="11204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9924" cy="1120482"/>
            </a:xfrm>
            <a:custGeom>
              <a:avLst/>
              <a:gdLst/>
              <a:ahLst/>
              <a:cxnLst/>
              <a:rect r="r" b="b" t="t" l="l"/>
              <a:pathLst>
                <a:path h="1120482" w="1739924">
                  <a:moveTo>
                    <a:pt x="81260" y="0"/>
                  </a:moveTo>
                  <a:lnTo>
                    <a:pt x="1658664" y="0"/>
                  </a:lnTo>
                  <a:cubicBezTo>
                    <a:pt x="1680216" y="0"/>
                    <a:pt x="1700884" y="8561"/>
                    <a:pt x="1716124" y="23800"/>
                  </a:cubicBezTo>
                  <a:cubicBezTo>
                    <a:pt x="1731363" y="39040"/>
                    <a:pt x="1739924" y="59708"/>
                    <a:pt x="1739924" y="81260"/>
                  </a:cubicBezTo>
                  <a:lnTo>
                    <a:pt x="1739924" y="1039222"/>
                  </a:lnTo>
                  <a:cubicBezTo>
                    <a:pt x="1739924" y="1060774"/>
                    <a:pt x="1731363" y="1081442"/>
                    <a:pt x="1716124" y="1096682"/>
                  </a:cubicBezTo>
                  <a:cubicBezTo>
                    <a:pt x="1700884" y="1111921"/>
                    <a:pt x="1680216" y="1120482"/>
                    <a:pt x="1658664" y="1120482"/>
                  </a:cubicBezTo>
                  <a:lnTo>
                    <a:pt x="81260" y="1120482"/>
                  </a:lnTo>
                  <a:cubicBezTo>
                    <a:pt x="59708" y="1120482"/>
                    <a:pt x="39040" y="1111921"/>
                    <a:pt x="23800" y="1096682"/>
                  </a:cubicBezTo>
                  <a:cubicBezTo>
                    <a:pt x="8561" y="1081442"/>
                    <a:pt x="0" y="1060774"/>
                    <a:pt x="0" y="1039222"/>
                  </a:cubicBezTo>
                  <a:lnTo>
                    <a:pt x="0" y="81260"/>
                  </a:lnTo>
                  <a:cubicBezTo>
                    <a:pt x="0" y="59708"/>
                    <a:pt x="8561" y="39040"/>
                    <a:pt x="23800" y="23800"/>
                  </a:cubicBezTo>
                  <a:cubicBezTo>
                    <a:pt x="39040" y="8561"/>
                    <a:pt x="59708" y="0"/>
                    <a:pt x="8126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39924" cy="114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24749" y="5969399"/>
            <a:ext cx="3570749" cy="2454183"/>
            <a:chOff x="0" y="0"/>
            <a:chExt cx="1630261" cy="11204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30261" cy="1120482"/>
            </a:xfrm>
            <a:custGeom>
              <a:avLst/>
              <a:gdLst/>
              <a:ahLst/>
              <a:cxnLst/>
              <a:rect r="r" b="b" t="t" l="l"/>
              <a:pathLst>
                <a:path h="1120482" w="1630261">
                  <a:moveTo>
                    <a:pt x="86726" y="0"/>
                  </a:moveTo>
                  <a:lnTo>
                    <a:pt x="1543535" y="0"/>
                  </a:lnTo>
                  <a:cubicBezTo>
                    <a:pt x="1591433" y="0"/>
                    <a:pt x="1630261" y="38829"/>
                    <a:pt x="1630261" y="86726"/>
                  </a:cubicBezTo>
                  <a:lnTo>
                    <a:pt x="1630261" y="1033756"/>
                  </a:lnTo>
                  <a:cubicBezTo>
                    <a:pt x="1630261" y="1081654"/>
                    <a:pt x="1591433" y="1120482"/>
                    <a:pt x="1543535" y="1120482"/>
                  </a:cubicBezTo>
                  <a:lnTo>
                    <a:pt x="86726" y="1120482"/>
                  </a:lnTo>
                  <a:cubicBezTo>
                    <a:pt x="38829" y="1120482"/>
                    <a:pt x="0" y="1081654"/>
                    <a:pt x="0" y="1033756"/>
                  </a:cubicBezTo>
                  <a:lnTo>
                    <a:pt x="0" y="86726"/>
                  </a:lnTo>
                  <a:cubicBezTo>
                    <a:pt x="0" y="38829"/>
                    <a:pt x="38829" y="0"/>
                    <a:pt x="8672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630261" cy="114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88551" y="5969399"/>
            <a:ext cx="3570749" cy="2454183"/>
            <a:chOff x="0" y="0"/>
            <a:chExt cx="1630261" cy="11204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30261" cy="1120482"/>
            </a:xfrm>
            <a:custGeom>
              <a:avLst/>
              <a:gdLst/>
              <a:ahLst/>
              <a:cxnLst/>
              <a:rect r="r" b="b" t="t" l="l"/>
              <a:pathLst>
                <a:path h="1120482" w="1630261">
                  <a:moveTo>
                    <a:pt x="86726" y="0"/>
                  </a:moveTo>
                  <a:lnTo>
                    <a:pt x="1543535" y="0"/>
                  </a:lnTo>
                  <a:cubicBezTo>
                    <a:pt x="1591433" y="0"/>
                    <a:pt x="1630261" y="38829"/>
                    <a:pt x="1630261" y="86726"/>
                  </a:cubicBezTo>
                  <a:lnTo>
                    <a:pt x="1630261" y="1033756"/>
                  </a:lnTo>
                  <a:cubicBezTo>
                    <a:pt x="1630261" y="1081654"/>
                    <a:pt x="1591433" y="1120482"/>
                    <a:pt x="1543535" y="1120482"/>
                  </a:cubicBezTo>
                  <a:lnTo>
                    <a:pt x="86726" y="1120482"/>
                  </a:lnTo>
                  <a:cubicBezTo>
                    <a:pt x="38829" y="1120482"/>
                    <a:pt x="0" y="1081654"/>
                    <a:pt x="0" y="1033756"/>
                  </a:cubicBezTo>
                  <a:lnTo>
                    <a:pt x="0" y="86726"/>
                  </a:lnTo>
                  <a:cubicBezTo>
                    <a:pt x="0" y="38829"/>
                    <a:pt x="38829" y="0"/>
                    <a:pt x="8672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630261" cy="1149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6367285"/>
            <a:ext cx="4030945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Cimiento y autenticacion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299" y="6811984"/>
            <a:ext cx="3268085" cy="114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6"/>
              </a:lnSpc>
            </a:pPr>
            <a:r>
              <a:rPr lang="en-US" sz="1651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antes de construir cualquier módulo de negocio, se necesita la base técnica  porque todos los módulos posteriores dependen de ella.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65179" y="6367285"/>
            <a:ext cx="4030945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Validacion de negocio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96958" y="6811984"/>
            <a:ext cx="3387389" cy="114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6"/>
              </a:lnSpc>
            </a:pPr>
            <a:r>
              <a:rPr lang="en-US" sz="1651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 se prioriza Resumen y Comercial porque son los módulos que primero le dan al cliente algo tangible para evaluar el estado del negocio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05674" y="6367285"/>
            <a:ext cx="4030945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Módulos operativos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79132" y="6811984"/>
            <a:ext cx="3226411" cy="88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77"/>
              </a:lnSpc>
            </a:pPr>
            <a:r>
              <a:rPr lang="en-US" sz="1572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una vez validada la base y los indicadores, se construyen los módulos de uso diario del equipo interno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46169" y="6411989"/>
            <a:ext cx="3700051" cy="21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92"/>
              </a:lnSpc>
              <a:spcBef>
                <a:spcPct val="0"/>
              </a:spcBef>
            </a:pPr>
            <a:r>
              <a:rPr lang="en-US" b="true" sz="18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Módulos no documentados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33673" y="6811984"/>
            <a:ext cx="3161882" cy="88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1"/>
              </a:lnSpc>
            </a:pPr>
            <a:r>
              <a:rPr lang="en-US" sz="1541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al no existir especificación previa para Generación docente y Pagos y suscripciones, estos se dejan para la etapa final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5400000">
            <a:off x="-1066419" y="-1550699"/>
            <a:ext cx="8229600" cy="6096762"/>
          </a:xfrm>
          <a:custGeom>
            <a:avLst/>
            <a:gdLst/>
            <a:ahLst/>
            <a:cxnLst/>
            <a:rect r="r" b="b" t="t" l="l"/>
            <a:pathLst>
              <a:path h="6096762" w="8229600">
                <a:moveTo>
                  <a:pt x="8229600" y="6096762"/>
                </a:moveTo>
                <a:lnTo>
                  <a:pt x="0" y="6096762"/>
                </a:lnTo>
                <a:lnTo>
                  <a:pt x="0" y="0"/>
                </a:lnTo>
                <a:lnTo>
                  <a:pt x="8229600" y="0"/>
                </a:lnTo>
                <a:lnTo>
                  <a:pt x="8229600" y="60967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88543" y="3298331"/>
            <a:ext cx="2571567" cy="915648"/>
            <a:chOff x="0" y="0"/>
            <a:chExt cx="1174075" cy="418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4075" cy="4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4"/>
                </a:lnSpc>
                <a:spcBef>
                  <a:spcPct val="0"/>
                </a:spcBef>
              </a:pPr>
              <a:r>
                <a:rPr lang="en-US" b="true" sz="1996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288543" y="4394955"/>
            <a:ext cx="2571567" cy="915648"/>
            <a:chOff x="0" y="0"/>
            <a:chExt cx="1174075" cy="4180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74075" cy="465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62768" y="3298331"/>
            <a:ext cx="2571567" cy="915648"/>
            <a:chOff x="0" y="0"/>
            <a:chExt cx="1174075" cy="4180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74075" cy="4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4"/>
                </a:lnSpc>
                <a:spcBef>
                  <a:spcPct val="0"/>
                </a:spcBef>
              </a:pPr>
              <a:r>
                <a:rPr lang="en-US" b="true" sz="1996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Node.js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62768" y="4394955"/>
            <a:ext cx="2571567" cy="915648"/>
            <a:chOff x="0" y="0"/>
            <a:chExt cx="1174075" cy="4180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74075" cy="4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4"/>
                </a:lnSpc>
                <a:spcBef>
                  <a:spcPct val="0"/>
                </a:spcBef>
              </a:pPr>
              <a:r>
                <a:rPr lang="en-US" b="true" sz="1996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Express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13739" y="3298331"/>
            <a:ext cx="2571567" cy="915648"/>
            <a:chOff x="0" y="0"/>
            <a:chExt cx="1174075" cy="4180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74075" cy="4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4"/>
                </a:lnSpc>
              </a:pPr>
              <a:r>
                <a:rPr lang="en-US" sz="1996" b="true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</a:t>
              </a:r>
            </a:p>
            <a:p>
              <a:pPr algn="ctr" marL="0" indent="0" lvl="0">
                <a:lnSpc>
                  <a:spcPts val="1814"/>
                </a:lnSpc>
                <a:spcBef>
                  <a:spcPct val="0"/>
                </a:spcBef>
              </a:pPr>
              <a:r>
                <a:rPr lang="en-US" b="true" sz="1296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(Firestore, modo emulador)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13739" y="4394955"/>
            <a:ext cx="2571567" cy="915648"/>
            <a:chOff x="0" y="0"/>
            <a:chExt cx="1174075" cy="4180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74075" cy="4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4"/>
                </a:lnSpc>
              </a:pPr>
              <a:r>
                <a:rPr lang="en-US" sz="1996" b="true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Stripe </a:t>
              </a:r>
            </a:p>
            <a:p>
              <a:pPr algn="ctr" marL="0" indent="0" lvl="0">
                <a:lnSpc>
                  <a:spcPts val="1954"/>
                </a:lnSpc>
                <a:spcBef>
                  <a:spcPct val="0"/>
                </a:spcBef>
              </a:pPr>
              <a:r>
                <a:rPr lang="en-US" b="true" sz="1396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(Modo prueba)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983782" y="3298331"/>
            <a:ext cx="2571567" cy="915648"/>
            <a:chOff x="0" y="0"/>
            <a:chExt cx="1174075" cy="4180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4075" cy="418049"/>
            </a:xfrm>
            <a:custGeom>
              <a:avLst/>
              <a:gdLst/>
              <a:ahLst/>
              <a:cxnLst/>
              <a:rect r="r" b="b" t="t" l="l"/>
              <a:pathLst>
                <a:path h="418049" w="1174075">
                  <a:moveTo>
                    <a:pt x="120423" y="0"/>
                  </a:moveTo>
                  <a:lnTo>
                    <a:pt x="1053651" y="0"/>
                  </a:lnTo>
                  <a:cubicBezTo>
                    <a:pt x="1120159" y="0"/>
                    <a:pt x="1174075" y="53915"/>
                    <a:pt x="1174075" y="120423"/>
                  </a:cubicBezTo>
                  <a:lnTo>
                    <a:pt x="1174075" y="297625"/>
                  </a:lnTo>
                  <a:cubicBezTo>
                    <a:pt x="1174075" y="364133"/>
                    <a:pt x="1120159" y="418049"/>
                    <a:pt x="1053651" y="418049"/>
                  </a:cubicBezTo>
                  <a:lnTo>
                    <a:pt x="120423" y="418049"/>
                  </a:lnTo>
                  <a:cubicBezTo>
                    <a:pt x="53915" y="418049"/>
                    <a:pt x="0" y="364133"/>
                    <a:pt x="0" y="297625"/>
                  </a:cubicBezTo>
                  <a:lnTo>
                    <a:pt x="0" y="120423"/>
                  </a:lnTo>
                  <a:cubicBezTo>
                    <a:pt x="0" y="53915"/>
                    <a:pt x="53915" y="0"/>
                    <a:pt x="1204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74075" cy="4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4"/>
                </a:lnSpc>
                <a:spcBef>
                  <a:spcPct val="0"/>
                </a:spcBef>
              </a:pPr>
              <a:r>
                <a:rPr lang="en-US" b="true" sz="1996">
                  <a:solidFill>
                    <a:srgbClr val="33627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Vercel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121634" y="5529787"/>
            <a:ext cx="905386" cy="837482"/>
          </a:xfrm>
          <a:custGeom>
            <a:avLst/>
            <a:gdLst/>
            <a:ahLst/>
            <a:cxnLst/>
            <a:rect r="r" b="b" t="t" l="l"/>
            <a:pathLst>
              <a:path h="837482" w="905386">
                <a:moveTo>
                  <a:pt x="0" y="0"/>
                </a:moveTo>
                <a:lnTo>
                  <a:pt x="905386" y="0"/>
                </a:lnTo>
                <a:lnTo>
                  <a:pt x="905386" y="837481"/>
                </a:lnTo>
                <a:lnTo>
                  <a:pt x="0" y="837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13138" y="5448979"/>
            <a:ext cx="870828" cy="956954"/>
          </a:xfrm>
          <a:custGeom>
            <a:avLst/>
            <a:gdLst/>
            <a:ahLst/>
            <a:cxnLst/>
            <a:rect r="r" b="b" t="t" l="l"/>
            <a:pathLst>
              <a:path h="956954" w="870828">
                <a:moveTo>
                  <a:pt x="0" y="0"/>
                </a:moveTo>
                <a:lnTo>
                  <a:pt x="870828" y="0"/>
                </a:lnTo>
                <a:lnTo>
                  <a:pt x="870828" y="956953"/>
                </a:lnTo>
                <a:lnTo>
                  <a:pt x="0" y="956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955019" y="5448979"/>
            <a:ext cx="689007" cy="956954"/>
          </a:xfrm>
          <a:custGeom>
            <a:avLst/>
            <a:gdLst/>
            <a:ahLst/>
            <a:cxnLst/>
            <a:rect r="r" b="b" t="t" l="l"/>
            <a:pathLst>
              <a:path h="956954" w="689007">
                <a:moveTo>
                  <a:pt x="0" y="0"/>
                </a:moveTo>
                <a:lnTo>
                  <a:pt x="689006" y="0"/>
                </a:lnTo>
                <a:lnTo>
                  <a:pt x="689006" y="956953"/>
                </a:lnTo>
                <a:lnTo>
                  <a:pt x="0" y="956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113060" y="6548243"/>
            <a:ext cx="913960" cy="913960"/>
          </a:xfrm>
          <a:custGeom>
            <a:avLst/>
            <a:gdLst/>
            <a:ahLst/>
            <a:cxnLst/>
            <a:rect r="r" b="b" t="t" l="l"/>
            <a:pathLst>
              <a:path h="913960" w="913960">
                <a:moveTo>
                  <a:pt x="0" y="0"/>
                </a:moveTo>
                <a:lnTo>
                  <a:pt x="913960" y="0"/>
                </a:lnTo>
                <a:lnTo>
                  <a:pt x="913960" y="913960"/>
                </a:lnTo>
                <a:lnTo>
                  <a:pt x="0" y="913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346975" y="6586907"/>
            <a:ext cx="936990" cy="936990"/>
          </a:xfrm>
          <a:custGeom>
            <a:avLst/>
            <a:gdLst/>
            <a:ahLst/>
            <a:cxnLst/>
            <a:rect r="r" b="b" t="t" l="l"/>
            <a:pathLst>
              <a:path h="936990" w="936990">
                <a:moveTo>
                  <a:pt x="0" y="0"/>
                </a:moveTo>
                <a:lnTo>
                  <a:pt x="936991" y="0"/>
                </a:lnTo>
                <a:lnTo>
                  <a:pt x="936991" y="936990"/>
                </a:lnTo>
                <a:lnTo>
                  <a:pt x="0" y="9369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608066" y="6774120"/>
            <a:ext cx="1332937" cy="749777"/>
          </a:xfrm>
          <a:custGeom>
            <a:avLst/>
            <a:gdLst/>
            <a:ahLst/>
            <a:cxnLst/>
            <a:rect r="r" b="b" t="t" l="l"/>
            <a:pathLst>
              <a:path h="749777" w="1332937">
                <a:moveTo>
                  <a:pt x="0" y="0"/>
                </a:moveTo>
                <a:lnTo>
                  <a:pt x="1332936" y="0"/>
                </a:lnTo>
                <a:lnTo>
                  <a:pt x="1332936" y="749777"/>
                </a:lnTo>
                <a:lnTo>
                  <a:pt x="0" y="7497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034800" y="5529787"/>
            <a:ext cx="730779" cy="730779"/>
          </a:xfrm>
          <a:custGeom>
            <a:avLst/>
            <a:gdLst/>
            <a:ahLst/>
            <a:cxnLst/>
            <a:rect r="r" b="b" t="t" l="l"/>
            <a:pathLst>
              <a:path h="730779" w="730779">
                <a:moveTo>
                  <a:pt x="0" y="0"/>
                </a:moveTo>
                <a:lnTo>
                  <a:pt x="730780" y="0"/>
                </a:lnTo>
                <a:lnTo>
                  <a:pt x="730780" y="730779"/>
                </a:lnTo>
                <a:lnTo>
                  <a:pt x="0" y="7307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096762" y="1205700"/>
            <a:ext cx="6202760" cy="72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5"/>
              </a:lnSpc>
              <a:spcBef>
                <a:spcPct val="0"/>
              </a:spcBef>
            </a:pPr>
            <a:r>
              <a:rPr lang="en-US" b="true" sz="5718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Tecnologias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34822" y="2862844"/>
            <a:ext cx="3368520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64292" y="2862844"/>
            <a:ext cx="3368520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5262" y="2862844"/>
            <a:ext cx="3368520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Datos y pagos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90780" y="2862844"/>
            <a:ext cx="3368520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0"/>
              </a:lnSpc>
              <a:spcBef>
                <a:spcPct val="0"/>
              </a:spcBef>
            </a:pPr>
            <a:r>
              <a:rPr lang="en-US" b="true" sz="2000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Despliegue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4862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15990" y="1916447"/>
            <a:ext cx="13801459" cy="7516350"/>
          </a:xfrm>
          <a:custGeom>
            <a:avLst/>
            <a:gdLst/>
            <a:ahLst/>
            <a:cxnLst/>
            <a:rect r="r" b="b" t="t" l="l"/>
            <a:pathLst>
              <a:path h="7516350" w="13801459">
                <a:moveTo>
                  <a:pt x="0" y="0"/>
                </a:moveTo>
                <a:lnTo>
                  <a:pt x="13801459" y="0"/>
                </a:lnTo>
                <a:lnTo>
                  <a:pt x="13801459" y="7516351"/>
                </a:lnTo>
                <a:lnTo>
                  <a:pt x="0" y="751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38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82768" y="939637"/>
            <a:ext cx="6890855" cy="114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4648" b="true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Carta Gantt</a:t>
            </a:r>
          </a:p>
          <a:p>
            <a:pPr algn="l" marL="0" indent="0" lvl="0">
              <a:lnSpc>
                <a:spcPts val="43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4862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10098432" y="2092806"/>
            <a:ext cx="8224974" cy="6096762"/>
          </a:xfrm>
          <a:custGeom>
            <a:avLst/>
            <a:gdLst/>
            <a:ahLst/>
            <a:cxnLst/>
            <a:rect r="r" b="b" t="t" l="l"/>
            <a:pathLst>
              <a:path h="6096762" w="8224974">
                <a:moveTo>
                  <a:pt x="8224974" y="0"/>
                </a:moveTo>
                <a:lnTo>
                  <a:pt x="0" y="0"/>
                </a:lnTo>
                <a:lnTo>
                  <a:pt x="0" y="6096762"/>
                </a:lnTo>
                <a:lnTo>
                  <a:pt x="8224974" y="6096762"/>
                </a:lnTo>
                <a:lnTo>
                  <a:pt x="82249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4307" y="1190405"/>
            <a:ext cx="7622299" cy="59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9"/>
              </a:lnSpc>
              <a:spcBef>
                <a:spcPct val="0"/>
              </a:spcBef>
            </a:pPr>
            <a:r>
              <a:rPr lang="en-US" b="true" sz="4648">
                <a:solidFill>
                  <a:srgbClr val="3362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Comentarios Finales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307" y="3105203"/>
            <a:ext cx="11416878" cy="511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28534" indent="-314267" lvl="1">
              <a:lnSpc>
                <a:spcPts val="4075"/>
              </a:lnSpc>
              <a:buFont typeface="Arial"/>
              <a:buChar char="•"/>
            </a:pPr>
            <a:r>
              <a:rPr lang="en-US" sz="2911">
                <a:solidFill>
                  <a:srgbClr val="336276"/>
                </a:solidFill>
                <a:latin typeface="Open Sans"/>
                <a:ea typeface="Open Sans"/>
                <a:cs typeface="Open Sans"/>
                <a:sym typeface="Open Sans"/>
              </a:rPr>
              <a:t>Construido junto a un cliente real</a:t>
            </a:r>
            <a:r>
              <a:rPr lang="en-US" sz="2911">
                <a:solidFill>
                  <a:srgbClr val="336276"/>
                </a:solidFill>
                <a:latin typeface="Open Sans"/>
                <a:ea typeface="Open Sans"/>
                <a:cs typeface="Open Sans"/>
                <a:sym typeface="Open Sans"/>
              </a:rPr>
              <a:t>, con alcance ajustado sobre la marcha según sus necesidades.</a:t>
            </a:r>
          </a:p>
          <a:p>
            <a:pPr algn="ctr">
              <a:lnSpc>
                <a:spcPts val="4075"/>
              </a:lnSpc>
            </a:pPr>
          </a:p>
          <a:p>
            <a:pPr algn="ctr" marL="628534" indent="-314267" lvl="1">
              <a:lnSpc>
                <a:spcPts val="4075"/>
              </a:lnSpc>
              <a:buFont typeface="Arial"/>
              <a:buChar char="•"/>
            </a:pPr>
            <a:r>
              <a:rPr lang="en-US" sz="2911">
                <a:solidFill>
                  <a:srgbClr val="336276"/>
                </a:solidFill>
                <a:latin typeface="Open Sans"/>
                <a:ea typeface="Open Sans"/>
                <a:cs typeface="Open Sans"/>
                <a:sym typeface="Open Sans"/>
              </a:rPr>
              <a:t>Ocho módulos definidos para cubrir lo que el negocio pidió.</a:t>
            </a:r>
          </a:p>
          <a:p>
            <a:pPr algn="ctr">
              <a:lnSpc>
                <a:spcPts val="4075"/>
              </a:lnSpc>
            </a:pPr>
          </a:p>
          <a:p>
            <a:pPr algn="ctr" marL="628534" indent="-314267" lvl="1">
              <a:lnSpc>
                <a:spcPts val="4075"/>
              </a:lnSpc>
              <a:buFont typeface="Arial"/>
              <a:buChar char="•"/>
            </a:pPr>
            <a:r>
              <a:rPr lang="en-US" sz="2911">
                <a:solidFill>
                  <a:srgbClr val="336276"/>
                </a:solidFill>
                <a:latin typeface="Open Sans"/>
                <a:ea typeface="Open Sans"/>
                <a:cs typeface="Open Sans"/>
                <a:sym typeface="Open Sans"/>
              </a:rPr>
              <a:t>Objetivos definidos con metas y plazos, pendientes de validar una vez el sistema esté en uso.</a:t>
            </a:r>
          </a:p>
          <a:p>
            <a:pPr algn="ctr">
              <a:lnSpc>
                <a:spcPts val="4075"/>
              </a:lnSpc>
            </a:pPr>
          </a:p>
          <a:p>
            <a:pPr algn="ctr" marL="628534" indent="-314267" lvl="1">
              <a:lnSpc>
                <a:spcPts val="4075"/>
              </a:lnSpc>
              <a:buFont typeface="Arial"/>
              <a:buChar char="•"/>
            </a:pPr>
            <a:r>
              <a:rPr lang="en-US" sz="2911">
                <a:solidFill>
                  <a:srgbClr val="336276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911">
                <a:solidFill>
                  <a:srgbClr val="336276"/>
                </a:solidFill>
                <a:latin typeface="Open Sans"/>
                <a:ea typeface="Open Sans"/>
                <a:cs typeface="Open Sans"/>
                <a:sym typeface="Open Sans"/>
              </a:rPr>
              <a:t>etodología ágil aplicada durante la planificación</a:t>
            </a:r>
          </a:p>
          <a:p>
            <a:pPr algn="ctr">
              <a:lnSpc>
                <a:spcPts val="407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A9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650"/>
            <a:chOff x="0" y="0"/>
            <a:chExt cx="6386393" cy="351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6393" cy="3511490"/>
            </a:xfrm>
            <a:custGeom>
              <a:avLst/>
              <a:gdLst/>
              <a:ahLst/>
              <a:cxnLst/>
              <a:rect r="r" b="b" t="t" l="l"/>
              <a:pathLst>
                <a:path h="3511490" w="6386393">
                  <a:moveTo>
                    <a:pt x="27442" y="0"/>
                  </a:moveTo>
                  <a:lnTo>
                    <a:pt x="6358951" y="0"/>
                  </a:lnTo>
                  <a:cubicBezTo>
                    <a:pt x="6366229" y="0"/>
                    <a:pt x="6373209" y="2891"/>
                    <a:pt x="6378356" y="8038"/>
                  </a:cubicBezTo>
                  <a:cubicBezTo>
                    <a:pt x="6383502" y="13184"/>
                    <a:pt x="6386393" y="20164"/>
                    <a:pt x="6386393" y="27442"/>
                  </a:cubicBezTo>
                  <a:lnTo>
                    <a:pt x="6386393" y="3484048"/>
                  </a:lnTo>
                  <a:cubicBezTo>
                    <a:pt x="6386393" y="3491326"/>
                    <a:pt x="6383502" y="3498306"/>
                    <a:pt x="6378356" y="3503452"/>
                  </a:cubicBezTo>
                  <a:cubicBezTo>
                    <a:pt x="6373209" y="3508598"/>
                    <a:pt x="6366229" y="3511490"/>
                    <a:pt x="6358951" y="3511490"/>
                  </a:cubicBezTo>
                  <a:lnTo>
                    <a:pt x="27442" y="3511490"/>
                  </a:lnTo>
                  <a:cubicBezTo>
                    <a:pt x="20164" y="3511490"/>
                    <a:pt x="13184" y="3508598"/>
                    <a:pt x="8038" y="3503452"/>
                  </a:cubicBezTo>
                  <a:cubicBezTo>
                    <a:pt x="2891" y="3498306"/>
                    <a:pt x="0" y="3491326"/>
                    <a:pt x="0" y="3484048"/>
                  </a:cubicBezTo>
                  <a:lnTo>
                    <a:pt x="0" y="27442"/>
                  </a:lnTo>
                  <a:cubicBezTo>
                    <a:pt x="0" y="20164"/>
                    <a:pt x="2891" y="13184"/>
                    <a:pt x="8038" y="8038"/>
                  </a:cubicBezTo>
                  <a:cubicBezTo>
                    <a:pt x="13184" y="2891"/>
                    <a:pt x="20164" y="0"/>
                    <a:pt x="274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86393" cy="3511490"/>
            </a:xfrm>
            <a:prstGeom prst="rect">
              <a:avLst/>
            </a:prstGeom>
          </p:spPr>
          <p:txBody>
            <a:bodyPr anchor="ctr" rtlCol="false" tIns="50667" lIns="50667" bIns="50667" rIns="50667"/>
            <a:lstStyle/>
            <a:p>
              <a:pPr algn="ctr">
                <a:lnSpc>
                  <a:spcPts val="138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658455"/>
            <a:ext cx="10747629" cy="15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sz="10608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880351"/>
            <a:ext cx="10747629" cy="15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b="true" sz="10608">
                <a:solidFill>
                  <a:srgbClr val="62A9C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gracias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7271530"/>
            <a:ext cx="1466112" cy="0"/>
          </a:xfrm>
          <a:prstGeom prst="line">
            <a:avLst/>
          </a:prstGeom>
          <a:ln cap="rnd" w="1047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1028700"/>
            <a:ext cx="4664906" cy="907320"/>
            <a:chOff x="0" y="0"/>
            <a:chExt cx="1425821" cy="27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821" cy="277321"/>
            </a:xfrm>
            <a:custGeom>
              <a:avLst/>
              <a:gdLst/>
              <a:ahLst/>
              <a:cxnLst/>
              <a:rect r="r" b="b" t="t" l="l"/>
              <a:pathLst>
                <a:path h="277321" w="1425821">
                  <a:moveTo>
                    <a:pt x="138660" y="0"/>
                  </a:moveTo>
                  <a:lnTo>
                    <a:pt x="1287160" y="0"/>
                  </a:lnTo>
                  <a:cubicBezTo>
                    <a:pt x="1363740" y="0"/>
                    <a:pt x="1425821" y="62080"/>
                    <a:pt x="1425821" y="138660"/>
                  </a:cubicBezTo>
                  <a:lnTo>
                    <a:pt x="1425821" y="138660"/>
                  </a:lnTo>
                  <a:cubicBezTo>
                    <a:pt x="1425821" y="175436"/>
                    <a:pt x="1411212" y="210704"/>
                    <a:pt x="1385208" y="236708"/>
                  </a:cubicBezTo>
                  <a:cubicBezTo>
                    <a:pt x="1359204" y="262712"/>
                    <a:pt x="1323935" y="277321"/>
                    <a:pt x="1287160" y="277321"/>
                  </a:cubicBezTo>
                  <a:lnTo>
                    <a:pt x="138660" y="277321"/>
                  </a:lnTo>
                  <a:cubicBezTo>
                    <a:pt x="101885" y="277321"/>
                    <a:pt x="66617" y="262712"/>
                    <a:pt x="40613" y="236708"/>
                  </a:cubicBezTo>
                  <a:cubicBezTo>
                    <a:pt x="14609" y="210704"/>
                    <a:pt x="0" y="175436"/>
                    <a:pt x="0" y="138660"/>
                  </a:cubicBezTo>
                  <a:lnTo>
                    <a:pt x="0" y="138660"/>
                  </a:lnTo>
                  <a:cubicBezTo>
                    <a:pt x="0" y="101885"/>
                    <a:pt x="14609" y="66617"/>
                    <a:pt x="40613" y="40613"/>
                  </a:cubicBezTo>
                  <a:cubicBezTo>
                    <a:pt x="66617" y="14609"/>
                    <a:pt x="101885" y="0"/>
                    <a:pt x="138660" y="0"/>
                  </a:cubicBezTo>
                  <a:close/>
                </a:path>
              </a:pathLst>
            </a:custGeom>
            <a:ln w="7620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25821" cy="315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187720"/>
            <a:ext cx="4397505" cy="5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5"/>
              </a:lnSpc>
              <a:spcBef>
                <a:spcPct val="0"/>
              </a:spcBef>
            </a:pPr>
            <a:r>
              <a:rPr lang="en-US" b="true" sz="3500">
                <a:solidFill>
                  <a:srgbClr val="FFBD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APRUEBA WEB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116571"/>
            <a:ext cx="7532157" cy="5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500">
                <a:solidFill>
                  <a:srgbClr val="336276"/>
                </a:solidFill>
                <a:latin typeface="Canva Sans"/>
                <a:ea typeface="Canva Sans"/>
                <a:cs typeface="Canva Sans"/>
                <a:sym typeface="Canva Sans"/>
              </a:rPr>
              <a:t>Dudas o consultas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5400000">
            <a:off x="10096119" y="2095119"/>
            <a:ext cx="8229600" cy="6096762"/>
          </a:xfrm>
          <a:custGeom>
            <a:avLst/>
            <a:gdLst/>
            <a:ahLst/>
            <a:cxnLst/>
            <a:rect r="r" b="b" t="t" l="l"/>
            <a:pathLst>
              <a:path h="6096762" w="8229600">
                <a:moveTo>
                  <a:pt x="0" y="0"/>
                </a:moveTo>
                <a:lnTo>
                  <a:pt x="8229600" y="0"/>
                </a:lnTo>
                <a:lnTo>
                  <a:pt x="8229600" y="6096762"/>
                </a:lnTo>
                <a:lnTo>
                  <a:pt x="0" y="609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DAHUkaH0ACI</dc:identifier>
  <dcterms:modified xsi:type="dcterms:W3CDTF">2011-08-01T06:04:30Z</dcterms:modified>
  <cp:revision>1</cp:revision>
  <dc:title>Presentación Propuesta de proyecto Moderno Azul</dc:title>
</cp:coreProperties>
</file>